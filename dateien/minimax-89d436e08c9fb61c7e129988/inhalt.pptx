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holzbau.blogspot.com/2026/10/schallschutz-bei-holzbalkendecken-warum.html" TargetMode="External"/><Relationship Id="rId3" Type="http://schemas.openxmlformats.org/officeDocument/2006/relationships/hyperlink" Target="https://holzundhaus.github.io/spreeholzbau/dateien/minimax-89d436e08c9fb61c7e12998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bei Holzbalkendecken: Warum er nicht ohne die Tragfähigkeit geplant werden darf · Erklärende Präsentation</a:t>
            </a:r>
          </a:p>
        </p:txBody>
      </p:sp>
      <p:sp>
        <p:nvSpPr>
          <p:cNvPr id="3" name="Content Placeholder 2"/>
          <p:cNvSpPr>
            <a:spLocks noGrp="1"/>
          </p:cNvSpPr>
          <p:nvPr>
            <p:ph idx="1"/>
          </p:nvPr>
        </p:nvSpPr>
        <p:spPr/>
        <p:txBody>
          <a:bodyPr/>
          <a:lstStyle/>
          <a:p>
            <a:r>
              <a:t>Überblick: Eine bessere Schalldämmung für eine Holzbalkendecke ist selten allein durch eine zusätzliche Dämmung zu erreichen. Jeder neue Aufbau verändert Last, Steifigkeit und brandschutztechnische Anforderungen. Deshalb sollte die Planung mit der Bestandsprüfung beginnen und Schallschutz, Tragfähigkeit sowie Bauphysik gemeinsam betrachten. Der folgende Leitfaden zeigt, welche Informationen für eine belastbare Einschätzung zusammengetragen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Tragfähigkeit und Schallschutz zusammengehören</a:t>
            </a:r>
          </a:p>
        </p:txBody>
      </p:sp>
      <p:sp>
        <p:nvSpPr>
          <p:cNvPr id="3" name="Content Placeholder 2"/>
          <p:cNvSpPr>
            <a:spLocks noGrp="1"/>
          </p:cNvSpPr>
          <p:nvPr>
            <p:ph idx="1"/>
          </p:nvPr>
        </p:nvSpPr>
        <p:spPr/>
        <p:txBody>
          <a:bodyPr/>
          <a:lstStyle/>
          <a:p>
            <a:pPr>
              <a:defRPr sz="1800"/>
            </a:pPr>
            <a:r>
              <a:t>Eine Holzbalkendecke trägt nicht nur die vorhandenen Lasten, sondern beeinflusst auch die Schallübertragung zwischen Geschossen. Ein Aufbau aus Hohlraumdämmung, federnder Lagerung, Trockenestrich und Bodenbelag kann den Trittschall deutlich verringern, erhöht aber zugleich das Flächengewicht. Hinzu kommen neue Trennwände oder eine veränderte Nutzung, etwa ein Bad mit schwerer Bodenkeramik. Auch die Lastweiterleitung in Wände sowie Durchbiegung und Schwingungsverhalten müssen berücksichtigt werden. Eine federnde Lagerung entkoppelt den Bodenbelag akustisch von der Balkenlage, verändert jedoch die Steifigkeit des gesamten Aufbaus. Ohne Prüfung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Tragfähigkeit und Schallschutz zusammengehören</a:t>
            </a:r>
          </a:p>
        </p:txBody>
      </p:sp>
      <p:sp>
        <p:nvSpPr>
          <p:cNvPr id="3" name="Content Placeholder 2"/>
          <p:cNvSpPr>
            <a:spLocks noGrp="1"/>
          </p:cNvSpPr>
          <p:nvPr>
            <p:ph idx="1"/>
          </p:nvPr>
        </p:nvSpPr>
        <p:spPr/>
        <p:txBody>
          <a:bodyPr/>
          <a:lstStyle/>
          <a:p>
            <a:pPr>
              <a:defRPr sz="1800"/>
            </a:pPr>
            <a:r>
              <a:t>der Reserven können dadurch unerwünschte Schwingungen entstehen. Schallschutz allein ist daher keine ausreichende Planungsgrundlage.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Bestandsprüfung als erster Planungsschritt</a:t>
            </a:r>
          </a:p>
        </p:txBody>
      </p:sp>
      <p:sp>
        <p:nvSpPr>
          <p:cNvPr id="3" name="Content Placeholder 2"/>
          <p:cNvSpPr>
            <a:spLocks noGrp="1"/>
          </p:cNvSpPr>
          <p:nvPr>
            <p:ph idx="1"/>
          </p:nvPr>
        </p:nvSpPr>
        <p:spPr/>
        <p:txBody>
          <a:bodyPr/>
          <a:lstStyle/>
          <a:p>
            <a:pPr>
              <a:defRPr sz="1800"/>
            </a:pPr>
            <a:r>
              <a:t>Vor der Auswahl einzelner Schichten ist der tatsächliche Zustand der Decke wichtig. In Altbauten sind Balken, Auflager und Anschlussbereiche häufig durch Putz, Dielung oder Einschub verdeckt. Verdeckte Feuchte, Schädlingsbefall oder frühere Umbauten lassen sich deshalb nur eingeschränkt beurteilen. Für eine erste Anfrage helfen vorhandene Bau- und Umbaupläne, ungefähre Maße der Decke und Auflagerbereiche, Fotos sichtbarer Schäden sowie Angaben zu Verformungen oder Durchfeuchtungen. Wichtig ist außerdem eine Beschreibung der geplanten Nutzung. Wohnraum, Bad, zusätzliche Trennwände und veränderte Möblierung stellen unterschiedliche Anforderunge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Bestandsprüfung als erster Planungsschritt</a:t>
            </a:r>
          </a:p>
        </p:txBody>
      </p:sp>
      <p:sp>
        <p:nvSpPr>
          <p:cNvPr id="3" name="Content Placeholder 2"/>
          <p:cNvSpPr>
            <a:spLocks noGrp="1"/>
          </p:cNvSpPr>
          <p:nvPr>
            <p:ph idx="1"/>
          </p:nvPr>
        </p:nvSpPr>
        <p:spPr/>
        <p:txBody>
          <a:bodyPr/>
          <a:lstStyle/>
          <a:p>
            <a:pPr>
              <a:defRPr sz="1800"/>
            </a:pPr>
            <a:r>
              <a:t>n. Diese Informationen ersetzen keine Fachprüfung, zeigen aber, welche Öffnungen und weiteren Untersuchungen sinnvoll erscheinen.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Schichtenfolge nicht nach Standardrezept festlegen</a:t>
            </a:r>
          </a:p>
        </p:txBody>
      </p:sp>
      <p:sp>
        <p:nvSpPr>
          <p:cNvPr id="3" name="Content Placeholder 2"/>
          <p:cNvSpPr>
            <a:spLocks noGrp="1"/>
          </p:cNvSpPr>
          <p:nvPr>
            <p:ph idx="1"/>
          </p:nvPr>
        </p:nvSpPr>
        <p:spPr/>
        <p:txBody>
          <a:bodyPr/>
          <a:lstStyle/>
          <a:p>
            <a:pPr>
              <a:defRPr sz="1800"/>
            </a:pPr>
            <a:r>
              <a:t>Akustisch wirksame Aufbauten bestehen häufig aus mehreren Lagen. Mineralwolle im Balkenzwischenraum, federnd gelagerte Unterkonstruktion, Trockenestrich und Bodenbelag wirken als Gesamtsystem. Welche Reihenfolge sinnvoll ist, hängt jedoch vom Bestand, von der gewünschten Nutzung und von den technischen Anforderungen ab. Eine feste Empfehlung wie „Hohlraumdämmung, Federschiene, Trockenestrich“ vernachlässigt dabei die Besonderheiten des jeweiligen Gebäudes. Neben dem Schallschutz müssen auch Feuchteschutz und Luftdichtheit berücksichtigt werden. Eine neue Dampfbremse oder ergänzte Hohlraumdämmung kann die Bauteilfeuchte beeinflussen. Ebenso wi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Schichtenfolge nicht nach Standardrezept festlegen</a:t>
            </a:r>
          </a:p>
        </p:txBody>
      </p:sp>
      <p:sp>
        <p:nvSpPr>
          <p:cNvPr id="3" name="Content Placeholder 2"/>
          <p:cNvSpPr>
            <a:spLocks noGrp="1"/>
          </p:cNvSpPr>
          <p:nvPr>
            <p:ph idx="1"/>
          </p:nvPr>
        </p:nvSpPr>
        <p:spPr/>
        <p:txBody>
          <a:bodyPr/>
          <a:lstStyle/>
          <a:p>
            <a:pPr>
              <a:defRPr sz="1800"/>
            </a:pPr>
            <a:r>
              <a:t>chtig sind die Anschlüsse an Wände und aufgehenden Bauteilen: Nur wenn diese Details passen, können Schall- und Brandschutz im Aufbau wirksam umgesetzt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Genehmigungsfragen mitdenken</a:t>
            </a:r>
          </a:p>
        </p:txBody>
      </p:sp>
      <p:sp>
        <p:nvSpPr>
          <p:cNvPr id="3" name="Content Placeholder 2"/>
          <p:cNvSpPr>
            <a:spLocks noGrp="1"/>
          </p:cNvSpPr>
          <p:nvPr>
            <p:ph idx="1"/>
          </p:nvPr>
        </p:nvSpPr>
        <p:spPr/>
        <p:txBody>
          <a:bodyPr/>
          <a:lstStyle/>
          <a:p>
            <a:pPr>
              <a:defRPr sz="1800"/>
            </a:pPr>
            <a:r>
              <a:t>Im mehrgeschossigen Bestand wirken Schallschutz und Brandschutz zusammen. Eine sichtbare Holzbalkenlage kann Bestandteil des Brandschutzkonzepts sein. Auch Bekleidungen aus Gipsfaser- oder Gipskartonplatten können eine brandschutztechnische Funktion übernehmen, wenn sie entsprechend ausgeführt und nachgewiesen sind. Änderungen am Schichtaufbau können diese Funktion verändern. Eine massive Decke allein ist deshalb weder ein Nachweis ausreichender Tragreserven noch eine Garantie für einen passenden Brandschutz. Bei baulichen Änderungen sollten die Anforderungen des Grundstücks und die zuständige Berliner Bauaufsicht berücksichtigt werden. Eine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Genehmigungsfragen mitdenken</a:t>
            </a:r>
          </a:p>
        </p:txBody>
      </p:sp>
      <p:sp>
        <p:nvSpPr>
          <p:cNvPr id="3" name="Content Placeholder 2"/>
          <p:cNvSpPr>
            <a:spLocks noGrp="1"/>
          </p:cNvSpPr>
          <p:nvPr>
            <p:ph idx="1"/>
          </p:nvPr>
        </p:nvSpPr>
        <p:spPr/>
        <p:txBody>
          <a:bodyPr/>
          <a:lstStyle/>
          <a:p>
            <a:pPr>
              <a:defRPr sz="1800"/>
            </a:pPr>
            <a:r>
              <a:t>allgemeine Aussage zur Genehmigungsfreiheit ersetzt diese Prüfung nicht. Mehr Orientierung bietet der Überblick zur [Holzbalkendecke] auf spreeholzbau.de; der passende Fachbeitrag zum [Schallschutz bei Holzbalkendecken] erläutert die Zusammenhänge zwischen Bestandsprüfung, Statik und Bauphysik.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Schallschutz bei Holzbalkendecken: Warum er nicht ohne die Tragfähigkeit geplant werden darf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