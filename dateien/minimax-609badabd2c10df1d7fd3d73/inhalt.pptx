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spreeholzbau/innenausbau-holz-bestehende-wohnungen-uebergaenge-gewerke-luftdichtheit/" TargetMode="External"/><Relationship Id="rId3" Type="http://schemas.openxmlformats.org/officeDocument/2006/relationships/hyperlink" Target="https://holzundhaus.github.io/spreeholzbau/dateien/minimax-609badabd2c10df1d7fd3d73/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Innenausbau mit Holz in bestehenden Wohnungen: Übergänge, Gewerke und Luftdichtheit im Griff · Erklärende Präsentation</a:t>
            </a:r>
          </a:p>
        </p:txBody>
      </p:sp>
      <p:sp>
        <p:nvSpPr>
          <p:cNvPr id="3" name="Content Placeholder 2"/>
          <p:cNvSpPr>
            <a:spLocks noGrp="1"/>
          </p:cNvSpPr>
          <p:nvPr>
            <p:ph idx="1"/>
          </p:nvPr>
        </p:nvSpPr>
        <p:spPr/>
        <p:txBody>
          <a:bodyPr/>
          <a:lstStyle/>
          <a:p>
            <a:r>
              <a:t>Überblick: Der Einbau von Holz in bestehende Wohnungen beginnt nicht mit der Auswahl einer Holzart, sondern mit einer sorgfältigen Bestandsaufnahme. Wände, Decken, Böden, Leitungen und Anschlüsse müssen bekannt sein, damit neue Holzbauteile später tatsächlich funktionieren. Der folgende Leitfaden zeigt, welche Punkte vor der Planung geklärt werden sollten und wie eine sinnvolle Reihenfolge aussehen kann. Weitere Orientierung bietet der Beitrag Innenausbau mit Holz in bestehenden Wohnungen.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Bestand vor der Planung aufnehmen</a:t>
            </a:r>
          </a:p>
        </p:txBody>
      </p:sp>
      <p:sp>
        <p:nvSpPr>
          <p:cNvPr id="3" name="Content Placeholder 2"/>
          <p:cNvSpPr>
            <a:spLocks noGrp="1"/>
          </p:cNvSpPr>
          <p:nvPr>
            <p:ph idx="1"/>
          </p:nvPr>
        </p:nvSpPr>
        <p:spPr/>
        <p:txBody>
          <a:bodyPr/>
          <a:lstStyle/>
          <a:p>
            <a:pPr>
              <a:defRPr sz="1800"/>
            </a:pPr>
            <a:r>
              <a:t>Vor der Auslegung eines Holzbauteils sollten die vorhandenen Bedingungen sorgfältig dokumentiert werden. Zu prüfen sind die Wandaufbauten an den späteren Anschlusspunkten, etwa Massivbau, Trockenbau, Putz oder Fliesen. Ebenso wichtig sind die Verläufe von Elektro-, Heizungs-, Wasser- und Abwasserleitungen sowie die Positionen von Steckdosen und Schaltern. Bei Böden gehören vorhandene Estriche, Dämmungen, Beläge und die tatsächliche Aufbauhöhe zur Bestandsaufnahme. Auch Hinweise auf Feuchtigkeit, alte Dämmstoffe oder kontaminierte Schichten sollten berücksichtigt werden. Ohne diese Informationen lässt sich nur schwer beurteilen, ob ein Holzbau</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Bestand vor der Planung aufnehmen</a:t>
            </a:r>
          </a:p>
        </p:txBody>
      </p:sp>
      <p:sp>
        <p:nvSpPr>
          <p:cNvPr id="3" name="Content Placeholder 2"/>
          <p:cNvSpPr>
            <a:spLocks noGrp="1"/>
          </p:cNvSpPr>
          <p:nvPr>
            <p:ph idx="1"/>
          </p:nvPr>
        </p:nvSpPr>
        <p:spPr/>
        <p:txBody>
          <a:bodyPr/>
          <a:lstStyle/>
          <a:p>
            <a:pPr>
              <a:defRPr sz="1800"/>
            </a:pPr>
            <a:r>
              <a:t>teil an der vorgesehenen Stelle sinnvoll angeschlossen werden kann. Grundrisse und Schnitte, Fotos der Anschlussbereiche sowie Angaben zur geplanten Raumnutzung erleichtern die anschließende Abstimmung.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Statik und Lastweiterleitung im Bestand</a:t>
            </a:r>
          </a:p>
        </p:txBody>
      </p:sp>
      <p:sp>
        <p:nvSpPr>
          <p:cNvPr id="3" name="Content Placeholder 2"/>
          <p:cNvSpPr>
            <a:spLocks noGrp="1"/>
          </p:cNvSpPr>
          <p:nvPr>
            <p:ph idx="1"/>
          </p:nvPr>
        </p:nvSpPr>
        <p:spPr/>
        <p:txBody>
          <a:bodyPr/>
          <a:lstStyle/>
          <a:p>
            <a:pPr>
              <a:defRPr sz="1800"/>
            </a:pPr>
            <a:r>
              <a:t>Ein Innenausbau mit Holz ist nicht nur eine gestalterische Entscheidung. Holzregale, Trennwände, sichtbare Balken oder neue Dielenböden können zusätzliches Gewicht in eine bestehende Decke einleiten. Deshalb muss die Tragfähigkeit des betroffenen Bereichs geprüft werden. Dabei sind auch die Lage und Spannrichtung vorhandener Balken sowie die möglichen Befestigungspunkte zu berücksichtigen. Leitungen, Bewehrung oder andere verdeckte Bestandteile können die Auswahl der Stellen einschränken. Allgemeine Angaben zum Gewicht eines Holzbauteils reichen für eine belastbare Beurteilung nicht aus. Die Prüfung gehört in die Hände eines Fachplaners, der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Statik und Lastweiterleitung im Bestand</a:t>
            </a:r>
          </a:p>
        </p:txBody>
      </p:sp>
      <p:sp>
        <p:nvSpPr>
          <p:cNvPr id="3" name="Content Placeholder 2"/>
          <p:cNvSpPr>
            <a:spLocks noGrp="1"/>
          </p:cNvSpPr>
          <p:nvPr>
            <p:ph idx="1"/>
          </p:nvPr>
        </p:nvSpPr>
        <p:spPr/>
        <p:txBody>
          <a:bodyPr/>
          <a:lstStyle/>
          <a:p>
            <a:pPr>
              <a:defRPr sz="1800"/>
            </a:pPr>
            <a:r>
              <a:t>den Weg der Lasten bis zu den tragenden Bauteilen bewerten kann.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Luftdichtheit und Feuchteschutz an Übergängen</a:t>
            </a:r>
          </a:p>
        </p:txBody>
      </p:sp>
      <p:sp>
        <p:nvSpPr>
          <p:cNvPr id="3" name="Content Placeholder 2"/>
          <p:cNvSpPr>
            <a:spLocks noGrp="1"/>
          </p:cNvSpPr>
          <p:nvPr>
            <p:ph idx="1"/>
          </p:nvPr>
        </p:nvSpPr>
        <p:spPr/>
        <p:txBody>
          <a:bodyPr/>
          <a:lstStyle/>
          <a:p>
            <a:pPr>
              <a:defRPr sz="1800"/>
            </a:pPr>
            <a:r>
              <a:t>Holz reagiert auf Feuchte. An Übergängen zwischen neuen Holzbauteilen und bestehenden Wänden, Decken oder Böden können deshalb undichte Anschlüsse, Durchdringungen oder nicht mehr zugängliche Fugen zu Schwachstellen werden. Besonders wichtig ist der Anschluss an Außenwände, an denen Raumluft, gegebenenfalls eine Dampfbremse und ein kühlerer Bauteilbereich aufeinandertreffen. Auch der Übergang von einer Decke zu einer Wand verlangt Aufmerksamkeit, wenn der Anschluss später hinter einer Bekleidung verschwindet. Steckdosen, Lampenanschlüsse und Rohrdurchführungen unterbrechen die Luftdichtheitsebene. Konstruktiver Feuchteschutz sollte deshalb vo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Luftdichtheit und Feuchteschutz an Übergängen</a:t>
            </a:r>
          </a:p>
        </p:txBody>
      </p:sp>
      <p:sp>
        <p:nvSpPr>
          <p:cNvPr id="3" name="Content Placeholder 2"/>
          <p:cNvSpPr>
            <a:spLocks noGrp="1"/>
          </p:cNvSpPr>
          <p:nvPr>
            <p:ph idx="1"/>
          </p:nvPr>
        </p:nvSpPr>
        <p:spPr/>
        <p:txBody>
          <a:bodyPr/>
          <a:lstStyle/>
          <a:p>
            <a:pPr>
              <a:defRPr sz="1800"/>
            </a:pPr>
            <a:r>
              <a:t>r der sichtbaren Ausführung festgelegt werden, nicht nachträglich an der Oberfläche.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Gewerke und Reihenfolge früh abstimmen</a:t>
            </a:r>
          </a:p>
        </p:txBody>
      </p:sp>
      <p:sp>
        <p:nvSpPr>
          <p:cNvPr id="3" name="Content Placeholder 2"/>
          <p:cNvSpPr>
            <a:spLocks noGrp="1"/>
          </p:cNvSpPr>
          <p:nvPr>
            <p:ph idx="1"/>
          </p:nvPr>
        </p:nvSpPr>
        <p:spPr/>
        <p:txBody>
          <a:bodyPr/>
          <a:lstStyle/>
          <a:p>
            <a:pPr>
              <a:defRPr sz="1800"/>
            </a:pPr>
            <a:r>
              <a:t>Vor Beginn der Holzarbeiten müssen die Schnittstellen zu anderen Gewerken verbindlich geklärt sein. Für Elektro sind Leitungsverläufe, zulässige Dosen und brandschutztechnisch relevante Abstände zu beachten. Sanitär erfordert Angaben zu Wasser- und Abwasserleitungen sowie zu geplanten Anschlüssen in Bad oder Küche. Die Heizung beeinflusst Holzoberflächen durch Wandhalterungen, Rohrdurchführungen und Dehnungsfugen. Trockenbau und Maler benötigen klare Angaben zu sichtbaren oder überdeckten Übergängen, der Bodenleger zur verfügbaren Aufbauhöhe sowie zu Schwellen, Übergangsprofilen und Dehnungsfugen. Eine empfehlenswerte Reihenfolge lautet: unsi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Gewerke und Reihenfolge früh abstimmen</a:t>
            </a:r>
          </a:p>
        </p:txBody>
      </p:sp>
      <p:sp>
        <p:nvSpPr>
          <p:cNvPr id="3" name="Content Placeholder 2"/>
          <p:cNvSpPr>
            <a:spLocks noGrp="1"/>
          </p:cNvSpPr>
          <p:nvPr>
            <p:ph idx="1"/>
          </p:nvPr>
        </p:nvSpPr>
        <p:spPr/>
        <p:txBody>
          <a:bodyPr/>
          <a:lstStyle/>
          <a:p>
            <a:pPr>
              <a:defRPr sz="1800"/>
            </a:pPr>
            <a:r>
              <a:t>chtbare Schichten und Leitungen klären, anschließend Holzbauteile einbauen und zuletzt sichtbare Oberflächen fertigstellen. So bleiben Zugang und Kontrolle möglich.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Von der Anforderung zum Holzbauteil</a:t>
            </a:r>
          </a:p>
        </p:txBody>
      </p:sp>
      <p:sp>
        <p:nvSpPr>
          <p:cNvPr id="3" name="Content Placeholder 2"/>
          <p:cNvSpPr>
            <a:spLocks noGrp="1"/>
          </p:cNvSpPr>
          <p:nvPr>
            <p:ph idx="1"/>
          </p:nvPr>
        </p:nvSpPr>
        <p:spPr/>
        <p:txBody>
          <a:bodyPr/>
          <a:lstStyle/>
          <a:p>
            <a:pPr>
              <a:defRPr sz="1800"/>
            </a:pPr>
            <a:r>
              <a:t>Für die weitere Planung ist eine kurze, technische Leistungsbeschreibung hilfreich. Sie sollte Statik, Schall, Luftdichtheit, Feuchteschutz und die abgestimmten Gewerke berücksichtigen. Erst danach lassen sich Form, Abmessung und Oberfläche eines Holzbauteils festlegen. Bei baulichen Veränderungen in bestehenden Wohnungen müssen außerdem die Anforderungen des konkreten Gebäudes und die zuständige Berliner Bauaufsicht berücksichtigt werden; eine pauschale Aussage zur Genehmigungsfreiheit genügt nicht. Als ergänzender Beitrag passt Regenwasser von Carport und Terrassenüberdachung richtig führen: drei Wege und was in die Anfrage gehört.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Innenausbau mit Holz in bestehenden Wohnungen: Übergänge, Gewerke und Luftdichtheit im Griff</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