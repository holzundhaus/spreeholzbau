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spreeholzbau/-/blob/418b5e5b7b2f9b90cd15a25a3b6902dcdf427e46/_posts/2026-10-16-fassadenpruefung-holzbalkon-vorbereitung.md" TargetMode="External"/><Relationship Id="rId3" Type="http://schemas.openxmlformats.org/officeDocument/2006/relationships/hyperlink" Target="https://holzundhaus.github.io/spreeholzbau/dateien/minimax-ac2ab0223f7f483cd824c5e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Fassadenprüfung vor dem Holzbalkon: Die wichtigsten Vorbereitungsschritte · Erklärende Präsentation</a:t>
            </a:r>
          </a:p>
        </p:txBody>
      </p:sp>
      <p:sp>
        <p:nvSpPr>
          <p:cNvPr id="3" name="Content Placeholder 2"/>
          <p:cNvSpPr>
            <a:spLocks noGrp="1"/>
          </p:cNvSpPr>
          <p:nvPr>
            <p:ph idx="1"/>
          </p:nvPr>
        </p:nvSpPr>
        <p:spPr/>
        <p:txBody>
          <a:bodyPr/>
          <a:lstStyle/>
          <a:p>
            <a:r>
              <a:t>Überblick: Ein Holzbalkon beginnt nicht mit dem Kauf von Belag, Geländer oder Entwässerung, sondern mit einer belastbaren Einschätzung der Fassade. Der sichtbare Bereich einer Außenwand verrät oft wenig über ihre tatsächliche Konstruktion, tragende Bauteile oder geeignete Befestigungspunkte. Für die Planung ist deshalb wichtig, zunächst den Bestand und die sichere Lastabtragung zu klären. Der folgende Leitfaden strukturiert die Vorbereitung, unterstützt die fachliche Prüfung und hilft, offene Fragen früh zu erkennen, bevor Details ausgearbeitet werden.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Fassade vor dem Holzbalkon systematisch einschätzen</a:t>
            </a:r>
          </a:p>
        </p:txBody>
      </p:sp>
      <p:sp>
        <p:nvSpPr>
          <p:cNvPr id="3" name="Content Placeholder 2"/>
          <p:cNvSpPr>
            <a:spLocks noGrp="1"/>
          </p:cNvSpPr>
          <p:nvPr>
            <p:ph idx="1"/>
          </p:nvPr>
        </p:nvSpPr>
        <p:spPr/>
        <p:txBody>
          <a:bodyPr/>
          <a:lstStyle/>
          <a:p>
            <a:pPr>
              <a:defRPr sz="1800"/>
            </a:pPr>
            <a:r>
              <a:t>Eine Holzbalkonplanung ist immer auch eine Frage an den Wandaufbau. Die Verbindung zwischen Balkon und Gebäude muss die auftretenden Lasten zuverlässig abtragen. Eine bloße Sichtprüfung der Außenfassade reicht dafür meist nicht aus, weil hinter sichtbaren Schichten weitere Konstruktionen liegen können und Anschlüsse an Decken oder Wänden von außen nur eingeschränkt erkennbar sind. Besonders relevant sind daher die Tragfähigkeit der Wand, die Anordnung von Befestigungspunkten und die vorhandenen Anschlussbereiche. Eine erste Einschätzung sollte nicht die spätere technische Planung ersetzen, sondern die nötigen Informationen für eine belastbare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Fassade vor dem Holzbalkon systematisch einschätzen</a:t>
            </a:r>
          </a:p>
        </p:txBody>
      </p:sp>
      <p:sp>
        <p:nvSpPr>
          <p:cNvPr id="3" name="Content Placeholder 2"/>
          <p:cNvSpPr>
            <a:spLocks noGrp="1"/>
          </p:cNvSpPr>
          <p:nvPr>
            <p:ph idx="1"/>
          </p:nvPr>
        </p:nvSpPr>
        <p:spPr/>
        <p:txBody>
          <a:bodyPr/>
          <a:lstStyle/>
          <a:p>
            <a:pPr>
              <a:defRPr sz="1800"/>
            </a:pPr>
            <a:r>
              <a:t> Entscheidung zusammenstellen.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Unterlagen und Beobachtungen vorliegen sollten</a:t>
            </a:r>
          </a:p>
        </p:txBody>
      </p:sp>
      <p:sp>
        <p:nvSpPr>
          <p:cNvPr id="3" name="Content Placeholder 2"/>
          <p:cNvSpPr>
            <a:spLocks noGrp="1"/>
          </p:cNvSpPr>
          <p:nvPr>
            <p:ph idx="1"/>
          </p:nvPr>
        </p:nvSpPr>
        <p:spPr/>
        <p:txBody>
          <a:bodyPr/>
          <a:lstStyle/>
          <a:p>
            <a:pPr>
              <a:defRPr sz="1800"/>
            </a:pPr>
            <a:r>
              <a:t>Für die Bestandsaufnahme sind möglichst viele verlässliche Informationen hilfreich. Bauzeichnungen, Bestandspläne und frühere Prüfberichte können Aufschluss über tragende Wände, Wandstärken und bereits vorhandene Anschlüsse geben. Ergänzend sollten Fotos der geplanten Position aus unterschiedlichen Blickwinkeln vorliegen. Ebenso wichtig sind die ungefähren Abmessungen des gewünschten Balkons, die vorgesehene Nutzung sowie Angaben zum Alter und zur Bauweise des Geb Buildings. Auch sichtbare Schäden, Verfärbungen, Risse, Setzungen sowie frühere Durchbrüche oder Anschlüsse gehören dokumentiert. Fehlen Unterlagen, muss die Bestandsaufnahme auf 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Unterlagen und Beobachtungen vorliegen sollten</a:t>
            </a:r>
          </a:p>
        </p:txBody>
      </p:sp>
      <p:sp>
        <p:nvSpPr>
          <p:cNvPr id="3" name="Content Placeholder 2"/>
          <p:cNvSpPr>
            <a:spLocks noGrp="1"/>
          </p:cNvSpPr>
          <p:nvPr>
            <p:ph idx="1"/>
          </p:nvPr>
        </p:nvSpPr>
        <p:spPr/>
        <p:txBody>
          <a:bodyPr/>
          <a:lstStyle/>
          <a:p>
            <a:pPr>
              <a:defRPr sz="1800"/>
            </a:pPr>
            <a:r>
              <a:t>dere Weise erfolgen; gerade dann ist eine fachliche Einschätzung besonders wichtig. Weitere Hinweise zur Vorbereitung bietet der [weiterführende Ratgeber](https://spreeholzbau.de/).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Wandaufbau und kritische Anschlüsse unterscheiden</a:t>
            </a:r>
          </a:p>
        </p:txBody>
      </p:sp>
      <p:sp>
        <p:nvSpPr>
          <p:cNvPr id="3" name="Content Placeholder 2"/>
          <p:cNvSpPr>
            <a:spLocks noGrp="1"/>
          </p:cNvSpPr>
          <p:nvPr>
            <p:ph idx="1"/>
          </p:nvPr>
        </p:nvSpPr>
        <p:spPr/>
        <p:txBody>
          <a:bodyPr/>
          <a:lstStyle/>
          <a:p>
            <a:pPr>
              <a:defRPr sz="1800"/>
            </a:pPr>
            <a:r>
              <a:t>Mauerwerk, Fachwerk und Holzrahmenbauwerk unterscheiden sich in ihren möglichen Befestigungsarten und Anforderungen an die Gebäudeverbindung. Deshalb sollte die Bauweise nicht pauschal angenommen, sondern anhand der verfügbaren Informationen geprüft werden. Von außen schwer erkennbare Bereiche, etwa zwischen Wand und Decke, sind dabei besonders zu berücksichtigen. An diesen Stellen können die Kräfte aus dem Balkon in das Gebäude weitergeleitet werden. Fachlich zu klären ist daher, welche Öffnungen oder Untersuchungen erforderlich sind und welche Befestigung grundsätzlich infrage kommt. Die Tragwerksplanung muss anschließend auf den tatsächlic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Wandaufbau und kritische Anschlüsse unterscheiden</a:t>
            </a:r>
          </a:p>
        </p:txBody>
      </p:sp>
      <p:sp>
        <p:nvSpPr>
          <p:cNvPr id="3" name="Content Placeholder 2"/>
          <p:cNvSpPr>
            <a:spLocks noGrp="1"/>
          </p:cNvSpPr>
          <p:nvPr>
            <p:ph idx="1"/>
          </p:nvPr>
        </p:nvSpPr>
        <p:spPr/>
        <p:txBody>
          <a:bodyPr/>
          <a:lstStyle/>
          <a:p>
            <a:pPr>
              <a:defRPr sz="1800"/>
            </a:pPr>
            <a:r>
              <a:t>h ermittelten Bestand aufbauen, nicht auf einer bloßen Annahme über die Fassade.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Ergebnisse in eine belastbare Planungsgrundlage überführen</a:t>
            </a:r>
          </a:p>
        </p:txBody>
      </p:sp>
      <p:sp>
        <p:nvSpPr>
          <p:cNvPr id="3" name="Content Placeholder 2"/>
          <p:cNvSpPr>
            <a:spLocks noGrp="1"/>
          </p:cNvSpPr>
          <p:nvPr>
            <p:ph idx="1"/>
          </p:nvPr>
        </p:nvSpPr>
        <p:spPr/>
        <p:txBody>
          <a:bodyPr/>
          <a:lstStyle/>
          <a:p>
            <a:pPr>
              <a:defRPr sz="1800"/>
            </a:pPr>
            <a:r>
              <a:t>Nach der Bestandsaufnahme lassen sich die offenen Punkte often ordnen: Ist der Wandaufbau ausreichend geklärt? Sind geeignete Befestigungsbereiche vorhanden? Welche Anschlüsse und früheren Eingriffe müssen berücksichtigt werden? Die Antworten bestimmen, ob weitere Untersuchungen notwendig sind und wie die technische Ausführung weiterentwickelt werden kann. Dabei sollte die Dokumentation nachvollziehbar bleiben. Fotos, Maße, Unterlagen und festgestellte Schäden erleichtern die Abstimmung mit den beteiligten Fachplanern. Eine [Übersicht zum Start von Holzbalkon-Projekten in Berlin](https://spreeholzbau.de/) kann ergänzend zeigen, wie solche Pro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Ergebnisse in eine belastbare Planungsgrundlage überführen</a:t>
            </a:r>
          </a:p>
        </p:txBody>
      </p:sp>
      <p:sp>
        <p:nvSpPr>
          <p:cNvPr id="3" name="Content Placeholder 2"/>
          <p:cNvSpPr>
            <a:spLocks noGrp="1"/>
          </p:cNvSpPr>
          <p:nvPr>
            <p:ph idx="1"/>
          </p:nvPr>
        </p:nvSpPr>
        <p:spPr/>
        <p:txBody>
          <a:bodyPr/>
          <a:lstStyle/>
          <a:p>
            <a:pPr>
              <a:defRPr sz="1800"/>
            </a:pPr>
            <a:r>
              <a:t>jekte konkret begonnen werden, ohne die Einzelprüfung vor Ort zu ersetzen.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Erst Tragwerk und Genehmigungsfragen klären, dann Details festlegen</a:t>
            </a:r>
          </a:p>
        </p:txBody>
      </p:sp>
      <p:sp>
        <p:nvSpPr>
          <p:cNvPr id="3" name="Content Placeholder 2"/>
          <p:cNvSpPr>
            <a:spLocks noGrp="1"/>
          </p:cNvSpPr>
          <p:nvPr>
            <p:ph idx="1"/>
          </p:nvPr>
        </p:nvSpPr>
        <p:spPr/>
        <p:txBody>
          <a:bodyPr/>
          <a:lstStyle/>
          <a:p>
            <a:pPr>
              <a:defRPr sz="1800"/>
            </a:pPr>
            <a:r>
              <a:t>Belag, Geländer und Entwässerung wirken auf den ersten Blick wie die sichtbaren Bestandteile eines Balkons. Fachlich sinnvoll ist jedoch die umgekehrte Reihenfolge: Zuerst müssen Tragwerk, Lastabtragung und Gebäudeverbindung geklärt sein. Erst danach lassen sich die Details zu Ausführung und Nutzung zuverlässig planen. Auch bauliche Änderungen an der Fassade können Genehmigungsfragen aufwerfen. Die konkreten Anforderungen hängen vom Grundstück und der zuständigen Berliner Bauaufsicht ab; eine allgemeine Aussage zur Genehmigungsfreiheit wäre daher nicht belastbar. Unabhängig davon gilt: Die Fläche eines geplanten Balkons allein beantwortet nic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Erst Tragwerk und Genehmigungsfragen klären, dann Details festlegen</a:t>
            </a:r>
          </a:p>
        </p:txBody>
      </p:sp>
      <p:sp>
        <p:nvSpPr>
          <p:cNvPr id="3" name="Content Placeholder 2"/>
          <p:cNvSpPr>
            <a:spLocks noGrp="1"/>
          </p:cNvSpPr>
          <p:nvPr>
            <p:ph idx="1"/>
          </p:nvPr>
        </p:nvSpPr>
        <p:spPr/>
        <p:txBody>
          <a:bodyPr/>
          <a:lstStyle/>
          <a:p>
            <a:pPr>
              <a:defRPr sz="1800"/>
            </a:pPr>
            <a:r>
              <a:t>ht die Frage nach seiner Machbarkeit. Eine fachlich geprüfte Grundlage schafft Klarheit und reduziert das Risiko, dass sichtbare Gestaltungselemente vor einer tragfähigen Lösung festgelegt werden.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Fassadenprüfung vor dem Holzbalkon: Die wichtigsten Vorbereitungsschritte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